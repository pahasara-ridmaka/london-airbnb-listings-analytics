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3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B2A4A"/>
                </a:solidFill>
                <a:latin typeface="Arial"/>
              </a:rPr>
              <a:t>Price Distribution ($/night)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Approx Listing Count</c:v>
                </c:pt>
              </c:strCache>
            </c:strRef>
          </c:tx>
          <c:spPr>
            <a:solidFill>
              <a:srgbClr val="0D7C8C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$10-40</c:v>
                </c:pt>
                <c:pt idx="1">
                  <c:v>$40-70</c:v>
                </c:pt>
                <c:pt idx="2">
                  <c:v>$70-100</c:v>
                </c:pt>
                <c:pt idx="3">
                  <c:v>$100-130</c:v>
                </c:pt>
                <c:pt idx="4">
                  <c:v>$130-160</c:v>
                </c:pt>
                <c:pt idx="5">
                  <c:v>$160-200</c:v>
                </c:pt>
                <c:pt idx="6">
                  <c:v>$200-250</c:v>
                </c:pt>
                <c:pt idx="7">
                  <c:v>$250+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180</c:v>
                </c:pt>
                <c:pt idx="1">
                  <c:v>600</c:v>
                </c:pt>
                <c:pt idx="2">
                  <c:v>950</c:v>
                </c:pt>
                <c:pt idx="3">
                  <c:v>1100</c:v>
                </c:pt>
                <c:pt idx="4">
                  <c:v>900</c:v>
                </c:pt>
                <c:pt idx="5">
                  <c:v>750</c:v>
                </c:pt>
                <c:pt idx="6">
                  <c:v>480</c:v>
                </c:pt>
                <c:pt idx="7">
                  <c:v>280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A3-4AB4-B84F-0B860A76EB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B2A4A"/>
                </a:solidFill>
                <a:latin typeface="Arial"/>
              </a:rPr>
              <a:t>Room Type Share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Room Types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2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009-46AF-9A7F-84AE1BFF0622}"/>
              </c:ext>
            </c:extLst>
          </c:dPt>
          <c:dPt>
            <c:idx val="1"/>
            <c:bubble3D val="0"/>
            <c:spPr>
              <a:solidFill>
                <a:srgbClr val="0D7C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009-46AF-9A7F-84AE1BFF0622}"/>
              </c:ext>
            </c:extLst>
          </c:dPt>
          <c:dPt>
            <c:idx val="2"/>
            <c:bubble3D val="0"/>
            <c:spPr>
              <a:solidFill>
                <a:srgbClr val="E8A0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009-46AF-9A7F-84AE1BFF0622}"/>
              </c:ext>
            </c:extLst>
          </c:dPt>
          <c:dPt>
            <c:idx val="3"/>
            <c:bubble3D val="0"/>
            <c:spPr>
              <a:solidFill>
                <a:srgbClr val="5B7F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009-46AF-9A7F-84AE1BFF062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009-46AF-9A7F-84AE1BFF062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009-46AF-9A7F-84AE1BFF062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009-46AF-9A7F-84AE1BFF0622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009-46AF-9A7F-84AE1BFF062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Entire home/apt</c:v>
                </c:pt>
                <c:pt idx="1">
                  <c:v>Private room</c:v>
                </c:pt>
                <c:pt idx="2">
                  <c:v>Hotel room</c:v>
                </c:pt>
                <c:pt idx="3">
                  <c:v>Shared room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65.599999999999994</c:v>
                </c:pt>
                <c:pt idx="1">
                  <c:v>34.200000000000003</c:v>
                </c:pt>
                <c:pt idx="2">
                  <c:v>0.1</c:v>
                </c:pt>
                <c:pt idx="3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009-46AF-9A7F-84AE1BFF06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 ($/night)</c:v>
                </c:pt>
              </c:strCache>
            </c:strRef>
          </c:tx>
          <c:spPr>
            <a:solidFill>
              <a:srgbClr val="E05C45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05C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38A-433B-9C94-9D349B2694A3}"/>
              </c:ext>
            </c:extLst>
          </c:dPt>
          <c:dPt>
            <c:idx val="1"/>
            <c:invertIfNegative val="0"/>
            <c:bubble3D val="0"/>
            <c:spPr>
              <a:solidFill>
                <a:srgbClr val="E05C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38A-433B-9C94-9D349B2694A3}"/>
              </c:ext>
            </c:extLst>
          </c:dPt>
          <c:dPt>
            <c:idx val="2"/>
            <c:invertIfNegative val="0"/>
            <c:bubble3D val="0"/>
            <c:spPr>
              <a:solidFill>
                <a:srgbClr val="E05C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38A-433B-9C94-9D349B2694A3}"/>
              </c:ext>
            </c:extLst>
          </c:dPt>
          <c:dPt>
            <c:idx val="3"/>
            <c:invertIfNegative val="0"/>
            <c:bubble3D val="0"/>
            <c:spPr>
              <a:solidFill>
                <a:srgbClr val="0D7C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38A-433B-9C94-9D349B2694A3}"/>
              </c:ext>
            </c:extLst>
          </c:dPt>
          <c:dPt>
            <c:idx val="4"/>
            <c:invertIfNegative val="0"/>
            <c:bubble3D val="0"/>
            <c:spPr>
              <a:solidFill>
                <a:srgbClr val="0D7C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38A-433B-9C94-9D349B2694A3}"/>
              </c:ext>
            </c:extLst>
          </c:dPt>
          <c:dPt>
            <c:idx val="5"/>
            <c:invertIfNegative val="0"/>
            <c:bubble3D val="0"/>
            <c:spPr>
              <a:solidFill>
                <a:srgbClr val="0D7C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38A-433B-9C94-9D349B2694A3}"/>
              </c:ext>
            </c:extLst>
          </c:dPt>
          <c:dPt>
            <c:idx val="6"/>
            <c:invertIfNegative val="0"/>
            <c:bubble3D val="0"/>
            <c:spPr>
              <a:solidFill>
                <a:srgbClr val="5B7F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38A-433B-9C94-9D349B2694A3}"/>
              </c:ext>
            </c:extLst>
          </c:dPt>
          <c:dPt>
            <c:idx val="7"/>
            <c:invertIfNegative val="0"/>
            <c:bubble3D val="0"/>
            <c:spPr>
              <a:solidFill>
                <a:srgbClr val="5B7F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338A-433B-9C94-9D349B2694A3}"/>
              </c:ext>
            </c:extLst>
          </c:dPt>
          <c:dPt>
            <c:idx val="8"/>
            <c:invertIfNegative val="0"/>
            <c:bubble3D val="0"/>
            <c:spPr>
              <a:solidFill>
                <a:srgbClr val="5B7F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338A-433B-9C94-9D349B2694A3}"/>
              </c:ext>
            </c:extLst>
          </c:dPt>
          <c:dPt>
            <c:idx val="9"/>
            <c:invertIfNegative val="0"/>
            <c:bubble3D val="0"/>
            <c:spPr>
              <a:solidFill>
                <a:srgbClr val="8499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338A-433B-9C94-9D349B2694A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City of London</c:v>
                </c:pt>
                <c:pt idx="1">
                  <c:v>Kensington &amp; Chelsea</c:v>
                </c:pt>
                <c:pt idx="2">
                  <c:v>Westminster</c:v>
                </c:pt>
                <c:pt idx="3">
                  <c:v>Camden</c:v>
                </c:pt>
                <c:pt idx="4">
                  <c:v>Islington</c:v>
                </c:pt>
                <c:pt idx="5">
                  <c:v>Hammersmith &amp; Fulham</c:v>
                </c:pt>
                <c:pt idx="6">
                  <c:v>Hackney</c:v>
                </c:pt>
                <c:pt idx="7">
                  <c:v>Southwark</c:v>
                </c:pt>
                <c:pt idx="8">
                  <c:v>Lewisham</c:v>
                </c:pt>
                <c:pt idx="9">
                  <c:v>Bexley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201</c:v>
                </c:pt>
                <c:pt idx="1">
                  <c:v>178</c:v>
                </c:pt>
                <c:pt idx="2">
                  <c:v>173</c:v>
                </c:pt>
                <c:pt idx="3">
                  <c:v>146</c:v>
                </c:pt>
                <c:pt idx="4">
                  <c:v>138</c:v>
                </c:pt>
                <c:pt idx="5">
                  <c:v>136</c:v>
                </c:pt>
                <c:pt idx="6">
                  <c:v>123</c:v>
                </c:pt>
                <c:pt idx="7">
                  <c:v>122</c:v>
                </c:pt>
                <c:pt idx="8">
                  <c:v>94</c:v>
                </c:pt>
                <c:pt idx="9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338A-433B-9C94-9D349B2694A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B2A4A"/>
                </a:solidFill>
                <a:latin typeface="Arial"/>
              </a:rPr>
              <a:t>Price vs Bedrooms (r≈0.45)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Bedrooms</c:v>
                </c:pt>
              </c:strCache>
            </c:strRef>
          </c:tx>
          <c:spPr>
            <a:ln w="25400" cap="flat">
              <a:solidFill>
                <a:srgbClr val="0D7C8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7C8C"/>
              </a:solidFill>
              <a:ln w="9525" cap="flat">
                <a:solidFill>
                  <a:srgbClr val="0D7C8C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60</c:v>
                </c:pt>
                <c:pt idx="1">
                  <c:v>80</c:v>
                </c:pt>
                <c:pt idx="2">
                  <c:v>100</c:v>
                </c:pt>
                <c:pt idx="3">
                  <c:v>120</c:v>
                </c:pt>
                <c:pt idx="4">
                  <c:v>130</c:v>
                </c:pt>
                <c:pt idx="5">
                  <c:v>160</c:v>
                </c:pt>
                <c:pt idx="6">
                  <c:v>200</c:v>
                </c:pt>
                <c:pt idx="7">
                  <c:v>240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1</c:v>
                </c:pt>
                <c:pt idx="1">
                  <c:v>1.5</c:v>
                </c:pt>
                <c:pt idx="2">
                  <c:v>2</c:v>
                </c:pt>
                <c:pt idx="3">
                  <c:v>2.5</c:v>
                </c:pt>
                <c:pt idx="4">
                  <c:v>3</c:v>
                </c:pt>
                <c:pt idx="5">
                  <c:v>3.5</c:v>
                </c:pt>
                <c:pt idx="6">
                  <c:v>4</c:v>
                </c:pt>
                <c:pt idx="7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AD9-4371-9F52-FCBA730E8C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B2A4A"/>
                </a:solidFill>
                <a:latin typeface="Arial"/>
              </a:rPr>
              <a:t>Model Accuracy vs F1-Score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D7C8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Decision Tree</c:v>
                </c:pt>
                <c:pt idx="2">
                  <c:v>Random 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</c:v>
                </c:pt>
                <c:pt idx="1">
                  <c:v>82</c:v>
                </c:pt>
                <c:pt idx="2">
                  <c:v>85.62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B6-467F-B06B-15915AADBF5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 (%)</c:v>
                </c:pt>
              </c:strCache>
            </c:strRef>
          </c:tx>
          <c:spPr>
            <a:solidFill>
              <a:srgbClr val="E8A02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Decision Tree</c:v>
                </c:pt>
                <c:pt idx="2">
                  <c:v>Random Forest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85</c:v>
                </c:pt>
                <c:pt idx="1">
                  <c:v>82</c:v>
                </c:pt>
                <c:pt idx="2">
                  <c:v>85.59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6B6-467F-B06B-15915AADBF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7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B2A4A"/>
                </a:solidFill>
                <a:latin typeface="Arial"/>
              </a:rPr>
              <a:t>R² Score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5B7FA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B7F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4FC-4911-85FD-9ED936BA3D5E}"/>
              </c:ext>
            </c:extLst>
          </c:dPt>
          <c:dPt>
            <c:idx val="1"/>
            <c:invertIfNegative val="0"/>
            <c:bubble3D val="0"/>
            <c:spPr>
              <a:solidFill>
                <a:srgbClr val="0D7C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4FC-4911-85FD-9ED936BA3D5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Linear Regression</c:v>
                </c:pt>
                <c:pt idx="1">
                  <c:v>Gradient Boosting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0.69589999999999996</c:v>
                </c:pt>
                <c:pt idx="1">
                  <c:v>0.72160000000000002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4FC-4911-85FD-9ED936BA3D5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.6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0128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3200400"/>
            <a:ext cx="804672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48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LONDON AIRBNB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 REPORT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&amp; Predictive Modelling on 28,480 Listings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49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333 1.5 — Data Mining &amp; Data Warehousing  |  University of Sri Jayewardanepura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931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49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P.G.P.R. Gunawardhena  |  AS2022901  |  19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4206240" cy="1005840"/>
          </a:xfrm>
          <a:prstGeom prst="rect">
            <a:avLst/>
          </a:prstGeom>
          <a:solidFill>
            <a:srgbClr val="EAF2F8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97280"/>
            <a:ext cx="502920" cy="100584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344168"/>
            <a:ext cx="484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16128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55448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28,480 London Airbnb listings — scope &amp; data preparation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92040" y="1097280"/>
            <a:ext cx="4206240" cy="1005840"/>
          </a:xfrm>
          <a:prstGeom prst="rect">
            <a:avLst/>
          </a:prstGeom>
          <a:solidFill>
            <a:srgbClr val="EAF2F8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097280"/>
            <a:ext cx="502920" cy="100584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01184" y="1344168"/>
            <a:ext cx="484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0" y="116128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155448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room types, neighbourhoods, correlations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286000"/>
            <a:ext cx="4206240" cy="1005840"/>
          </a:xfrm>
          <a:prstGeom prst="rect">
            <a:avLst/>
          </a:prstGeom>
          <a:solidFill>
            <a:srgbClr val="EAF2F8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286000"/>
            <a:ext cx="502920" cy="100584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2532888"/>
            <a:ext cx="484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23500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 Mining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74320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algorithm — co-occurrence patterns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92040" y="2286000"/>
            <a:ext cx="4206240" cy="1005840"/>
          </a:xfrm>
          <a:prstGeom prst="rect">
            <a:avLst/>
          </a:prstGeom>
          <a:solidFill>
            <a:srgbClr val="EAF2F8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2286000"/>
            <a:ext cx="502920" cy="100584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01184" y="2532888"/>
            <a:ext cx="484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86400" y="23500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Analysis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274320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market segmentation (K=3)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3474720"/>
            <a:ext cx="4206240" cy="1005840"/>
          </a:xfrm>
          <a:prstGeom prst="rect">
            <a:avLst/>
          </a:prstGeom>
          <a:solidFill>
            <a:srgbClr val="EAF2F8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474720"/>
            <a:ext cx="502920" cy="100584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3721608"/>
            <a:ext cx="484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5840" y="353872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393192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(RF 85.6%) &amp; Regression (GBM R²=0.72)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92040" y="3474720"/>
            <a:ext cx="4206240" cy="1005840"/>
          </a:xfrm>
          <a:prstGeom prst="rect">
            <a:avLst/>
          </a:prstGeom>
          <a:solidFill>
            <a:srgbClr val="EAF2F8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3474720"/>
            <a:ext cx="502920" cy="100584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01184" y="3721608"/>
            <a:ext cx="484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86400" y="353872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0" y="393192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Insights, implications &amp; future directions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1920240" cy="1143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1556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28,480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737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9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Listings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87168" y="1051560"/>
            <a:ext cx="1920240" cy="1143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87168" y="111556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87168" y="1737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9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Boroughs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62856" y="1051560"/>
            <a:ext cx="1920240" cy="1143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62856" y="111556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62856" y="1737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9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Types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38544" y="1051560"/>
            <a:ext cx="1920240" cy="11430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38544" y="111556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638544" y="1737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49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377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2743200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— Nightly price (GBP/USD)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 — London borough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room_type — Entire home, Private, Shared, Hotel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accommodates / bedrooms / bathrooms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review_scores_rating — Guest satisfaction (0–5)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availability_365 — Days available per year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amenities — Wifi, Kitchen, Pool, Parking etc.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377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KDD Pipeline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2743200"/>
            <a:ext cx="274320" cy="25603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74320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20640" y="27432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090672"/>
            <a:ext cx="274320" cy="25603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09067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20640" y="30906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Preprocessing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438144"/>
            <a:ext cx="274320" cy="25603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43814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0" y="34381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785616"/>
            <a:ext cx="274320" cy="25603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7856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0" y="37856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 Mining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4133088"/>
            <a:ext cx="274320" cy="25603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413308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20640" y="41330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Analysis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4480560"/>
            <a:ext cx="274320" cy="25603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44805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20640" y="4480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Modelling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EDA: PRICE &amp; ROOM TYPE DISTRIBUTION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20240" cy="914400"/>
          </a:xfrm>
          <a:prstGeom prst="rect">
            <a:avLst/>
          </a:prstGeom>
          <a:solidFill>
            <a:srgbClr val="EAF2F8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789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581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41448" y="1005840"/>
            <a:ext cx="1920240" cy="91440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41448" y="10789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41448" y="1581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17136" y="1005840"/>
            <a:ext cx="1920240" cy="914400"/>
          </a:xfrm>
          <a:prstGeom prst="rect">
            <a:avLst/>
          </a:prstGeom>
          <a:solidFill>
            <a:srgbClr val="EAF2F8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17136" y="10789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$126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17136" y="1581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92824" y="1005840"/>
            <a:ext cx="1920240" cy="914400"/>
          </a:xfrm>
          <a:prstGeom prst="rect">
            <a:avLst/>
          </a:prstGeom>
          <a:solidFill>
            <a:srgbClr val="EAF2F8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2824" y="10789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$437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592824" y="15819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</a:t>
            </a:r>
            <a:endParaRPr lang="en-US" sz="10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365760" y="2011680"/>
          <a:ext cx="48463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Chart 1"/>
          <p:cNvGraphicFramePr/>
          <p:nvPr/>
        </p:nvGraphicFramePr>
        <p:xfrm>
          <a:off x="5349240" y="1828800"/>
          <a:ext cx="36576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Text 14"/>
          <p:cNvSpPr/>
          <p:nvPr/>
        </p:nvSpPr>
        <p:spPr>
          <a:xfrm>
            <a:off x="365760" y="48006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of listings cluster between $60–$200/night. Median ($110) well below mean ($126) due to luxury outliers.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EDA: NEIGHBOURHOOD PRICING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05840"/>
          <a:ext cx="54864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280160"/>
          <a:ext cx="2834640" cy="21031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Borough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$/night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Expensive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of London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 Most Expensive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Kensington &amp; Chelsea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Mid-Range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Islington / Hackney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$120–$140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Affordable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Bexley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126480" y="35204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 to transport hubs and tourist attractions drives the central premium. Outer boroughs offer 65% savings vs. City of London.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EDA: CORRELATION &amp; REVIEW INSIGHTS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05840"/>
          <a:ext cx="45720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21208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Correlations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212080" y="1417320"/>
            <a:ext cx="3657600" cy="749808"/>
          </a:xfrm>
          <a:prstGeom prst="rect">
            <a:avLst/>
          </a:prstGeom>
          <a:solidFill>
            <a:srgbClr val="EAF2F8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0" y="14630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≈ 0.85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172200" y="14813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 ↔ Accommodates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30352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Strong: more bedrooms = more guests capacity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212080" y="2240280"/>
            <a:ext cx="3657600" cy="749808"/>
          </a:xfrm>
          <a:prstGeom prst="rect">
            <a:avLst/>
          </a:prstGeom>
          <a:solidFill>
            <a:srgbClr val="EAF2F8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22860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≈ 0.45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172200" y="23042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↔ Bedrooms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303520" y="2651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Moderate: capacity is a primary price driver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212080" y="3063240"/>
            <a:ext cx="3657600" cy="749808"/>
          </a:xfrm>
          <a:prstGeom prst="rect">
            <a:avLst/>
          </a:prstGeom>
          <a:solidFill>
            <a:srgbClr val="EAF2F8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03520" y="31089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≈ 0.05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172200" y="31272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↔ Review Score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03520" y="3474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Minimal: quality listings at every price tier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212080" y="3886200"/>
            <a:ext cx="3657600" cy="749808"/>
          </a:xfrm>
          <a:prstGeom prst="rect">
            <a:avLst/>
          </a:prstGeom>
          <a:solidFill>
            <a:srgbClr val="EAF2F8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03520" y="39319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7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&lt; 0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172200" y="39502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↔ Reviews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303520" y="4297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 listings accumulate more reviews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65760" y="4297680"/>
            <a:ext cx="4572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43434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Score: Mean 4.72 | Median 4.80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95%+ of listings rated ≥ 4.5 (ceiling effect)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ASSOCIATION RULE MINING (APRIORI)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20240" cy="822960"/>
          </a:xfrm>
          <a:prstGeom prst="rect">
            <a:avLst/>
          </a:prstGeom>
          <a:solidFill>
            <a:srgbClr val="EAF2F8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0.08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490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Support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68880" y="1005840"/>
            <a:ext cx="1920240" cy="822960"/>
          </a:xfrm>
          <a:prstGeom prst="rect">
            <a:avLst/>
          </a:prstGeom>
          <a:solidFill>
            <a:srgbClr val="EAF2F8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0515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68880" y="1490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Confidence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1920240" cy="82296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0515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1490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Generated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675120" y="1005840"/>
            <a:ext cx="1920240" cy="82296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0515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2.87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75120" y="1490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Lift</a:t>
            </a:r>
            <a:endParaRPr lang="en-US" sz="9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965960"/>
          <a:ext cx="8412480" cy="192024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Antecedent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Consequent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room + Small unit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price tier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tier + Top rated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room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tier + Small unit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room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avail + Budget tier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room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room (alone)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price tier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365760" y="4023360"/>
            <a:ext cx="8412480" cy="914400"/>
          </a:xfrm>
          <a:prstGeom prst="rect">
            <a:avLst/>
          </a:prstGeom>
          <a:solidFill>
            <a:srgbClr val="EAF2F8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" y="4023360"/>
            <a:ext cx="73152" cy="9144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411480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pricing co-occurs with private rooms and small units at 95%+ confidence. Luxury listings are distinctly driven by large entire-home properties — size and room type, not just calendar availability.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ANALYSIS — K-MEANS (K=3)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97480" cy="3291840"/>
          </a:xfrm>
          <a:prstGeom prst="rect">
            <a:avLst/>
          </a:prstGeom>
          <a:solidFill>
            <a:srgbClr val="EAF2F8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2697480" cy="502920"/>
          </a:xfrm>
          <a:prstGeom prst="rect">
            <a:avLst/>
          </a:prstGeom>
          <a:solidFill>
            <a:srgbClr val="E05C45"/>
          </a:solidFill>
          <a:ln w="12700">
            <a:solidFill>
              <a:srgbClr val="E05C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C0 — Premium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5C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~$180/night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1762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49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Nightly Price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48716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~4.81 ★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29077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49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 Score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price tier with excellent ratings. Entire home listings in premium boroughs.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27832" y="1051560"/>
            <a:ext cx="2697480" cy="3291840"/>
          </a:xfrm>
          <a:prstGeom prst="rect">
            <a:avLst/>
          </a:prstGeom>
          <a:solidFill>
            <a:srgbClr val="EAF2F8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7832" y="1051560"/>
            <a:ext cx="2697480" cy="50292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7832" y="1097280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C1 — Standard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27832" y="166420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7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~$114/night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27832" y="21762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49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Nightly Price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27832" y="248716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~4.21 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27832" y="29077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49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 Score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19272" y="324612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pricing with slightly lower review scores. Broadest segment.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89904" y="1051560"/>
            <a:ext cx="2697480" cy="3291840"/>
          </a:xfrm>
          <a:prstGeom prst="rect">
            <a:avLst/>
          </a:prstGeom>
          <a:solidFill>
            <a:srgbClr val="EAF2F8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9904" y="1051560"/>
            <a:ext cx="269748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9904" y="1097280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C2 — Economy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89904" y="166420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~$63/night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089904" y="21762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49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Nightly Price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89904" y="248716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~4.81 ★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089904" y="29077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49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 Score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81344" y="324612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Budget-friendly yet achieves review scores equal to premium tier. Strong value.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4480560"/>
            <a:ext cx="841248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5079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= 0.4329 (K=3 optimal)  |  Economy Budget achieves review quality equal to Premium — price ≠ satisfaction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ML: CLASSIFICATION — HIGH-PRICE PREDICTION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05840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153434" y="91629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Predictive Features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592346" y="127793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Bedrooms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506746" y="1306700"/>
            <a:ext cx="2560320" cy="256032"/>
          </a:xfrm>
          <a:prstGeom prst="rect">
            <a:avLst/>
          </a:prstGeom>
          <a:solidFill>
            <a:srgbClr val="E05C45"/>
          </a:solidFill>
          <a:ln w="12700">
            <a:solidFill>
              <a:srgbClr val="E05C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37882" y="127793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10.0%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5566743" y="178868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506746" y="1837052"/>
            <a:ext cx="2355494" cy="256032"/>
          </a:xfrm>
          <a:prstGeom prst="rect">
            <a:avLst/>
          </a:prstGeom>
          <a:solidFill>
            <a:srgbClr val="E05C45"/>
          </a:solidFill>
          <a:ln w="12700">
            <a:solidFill>
              <a:srgbClr val="E05C4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0" y="182289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9.2%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5566743" y="230339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506746" y="2367404"/>
            <a:ext cx="1997050" cy="25603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75196" y="2355361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</a:t>
            </a:r>
            <a:r>
              <a:rPr lang="en-US" sz="9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592346" y="28337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Type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506746" y="2897756"/>
            <a:ext cx="1664208" cy="25603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96634" y="28611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6.5%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5566743" y="33915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Amenities Count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506746" y="3428108"/>
            <a:ext cx="1280160" cy="256032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12586" y="337926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5.0%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1" name="Text 18"/>
          <p:cNvSpPr/>
          <p:nvPr/>
        </p:nvSpPr>
        <p:spPr>
          <a:xfrm>
            <a:off x="5566743" y="394877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365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506746" y="3958460"/>
            <a:ext cx="1228954" cy="256032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10173" y="39228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4.8%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65760" y="4407408"/>
            <a:ext cx="8412480" cy="548640"/>
          </a:xfrm>
          <a:prstGeom prst="rect">
            <a:avLst/>
          </a:prstGeom>
          <a:solidFill>
            <a:srgbClr val="EAF2F8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448056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Random Forest: 85.62% Accuracy | 85.59% F1-Score  —  Best model; captures non-linear feature interactions between neighbourhood, room type &amp; capacity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ML: REGRESSION — NIGHTLY PRICE PREDICTION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20240" cy="822960"/>
          </a:xfrm>
          <a:prstGeom prst="rect">
            <a:avLst/>
          </a:prstGeom>
          <a:solidFill>
            <a:srgbClr val="EAF2F8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$39.45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RMSE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68880" y="1005840"/>
            <a:ext cx="1920240" cy="822960"/>
          </a:xfrm>
          <a:prstGeom prst="rect">
            <a:avLst/>
          </a:prstGeom>
          <a:solidFill>
            <a:srgbClr val="EAF2F8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051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$27.74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68880" y="15087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MAE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1920240" cy="82296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051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$37.75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0" y="15087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 RMSE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675120" y="1005840"/>
            <a:ext cx="1920240" cy="82296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051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$26.46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75120" y="15087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GBM MAE</a:t>
            </a:r>
            <a:endParaRPr lang="en-US" sz="95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365760" y="1965960"/>
          <a:ext cx="47548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5394960" y="19659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Model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394960" y="242316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72.2% of price variance (R² = 0.7216)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of $37.75 is reasonable across a $10–$437 range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Linear Regression by leveraging non-linear interactions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under-prediction for ultra-luxury listings (thin upper tail)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Log-transformation of price improves model fit significantly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OF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713232"/>
          </a:xfrm>
          <a:prstGeom prst="rect">
            <a:avLst/>
          </a:prstGeom>
          <a:solidFill>
            <a:srgbClr val="EAF2F8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658368" cy="71323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07008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10515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371600"/>
            <a:ext cx="7589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$110/night; entire home/apt = 65.6%; City of London most expensive (~$201/night).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801368"/>
            <a:ext cx="8412480" cy="713232"/>
          </a:xfrm>
          <a:prstGeom prst="rect">
            <a:avLst/>
          </a:prstGeom>
          <a:solidFill>
            <a:srgbClr val="EAF2F8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01368"/>
            <a:ext cx="658368" cy="713232"/>
          </a:xfrm>
          <a:prstGeom prst="rect">
            <a:avLst/>
          </a:prstGeom>
          <a:solidFill>
            <a:srgbClr val="E05C45"/>
          </a:solidFill>
          <a:ln w="12700">
            <a:solidFill>
              <a:srgbClr val="E05C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02536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18470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 Mining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167128"/>
            <a:ext cx="7589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rules, max lift 2.87; private rooms predict budget pricing at 95% confidence.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596896"/>
            <a:ext cx="8412480" cy="713232"/>
          </a:xfrm>
          <a:prstGeom prst="rect">
            <a:avLst/>
          </a:prstGeom>
          <a:solidFill>
            <a:srgbClr val="EAF2F8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96896"/>
            <a:ext cx="658368" cy="7132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98064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26426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2962656"/>
            <a:ext cx="7589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tiers: Economy (~$63), Standard (~$114), Premium (~$180). Budget rivals premium in ratings.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392424"/>
            <a:ext cx="8412480" cy="713232"/>
          </a:xfrm>
          <a:prstGeom prst="rect">
            <a:avLst/>
          </a:prstGeom>
          <a:solidFill>
            <a:srgbClr val="EAF2F8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392424"/>
            <a:ext cx="658368" cy="713232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93592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CLF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" y="34381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(RF)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3758184"/>
            <a:ext cx="7589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85.62% accuracy predicting high-price listings. Bedrooms &amp; capacity are top features.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187952"/>
            <a:ext cx="8412480" cy="713232"/>
          </a:xfrm>
          <a:prstGeom prst="rect">
            <a:avLst/>
          </a:prstGeom>
          <a:solidFill>
            <a:srgbClr val="EAF2F8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187952"/>
            <a:ext cx="658368" cy="713232"/>
          </a:xfrm>
          <a:prstGeom prst="rect">
            <a:avLst/>
          </a:prstGeom>
          <a:solidFill>
            <a:srgbClr val="5B7FA6"/>
          </a:solidFill>
          <a:ln w="12700">
            <a:solidFill>
              <a:srgbClr val="5B7F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38912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7280" y="42336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(GBM)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4553712"/>
            <a:ext cx="7589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R²=0.72, RMSE=$37.75. Gradient Boosting captures non-linear price dynamics.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 &amp; IMPLICATIONS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97480" cy="3840480"/>
          </a:xfrm>
          <a:prstGeom prst="rect">
            <a:avLst/>
          </a:prstGeom>
          <a:solidFill>
            <a:srgbClr val="EAF2F8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97480" cy="43891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4241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Hosts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2514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 count is the #1 controllable lever for pricing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as entire home/apt significantly boosts revenue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boroughs command 2–3× outer borough rates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Amenities count moderately improves high-price probability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27832" y="1005840"/>
            <a:ext cx="2697480" cy="3840480"/>
          </a:xfrm>
          <a:prstGeom prst="rect">
            <a:avLst/>
          </a:prstGeom>
          <a:solidFill>
            <a:srgbClr val="EAF2F8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27832" y="1005840"/>
            <a:ext cx="2697480" cy="4389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27832" y="104241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Guests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19272" y="1508760"/>
            <a:ext cx="2514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scores are high across all price tiers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budget listings (~$63) rival premium in satisfaction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boroughs offer 65% savings vs. central London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rooms deliver consistent top-rated experiences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9904" y="1005840"/>
            <a:ext cx="2697480" cy="3840480"/>
          </a:xfrm>
          <a:prstGeom prst="rect">
            <a:avLst/>
          </a:prstGeom>
          <a:solidFill>
            <a:srgbClr val="EAF2F8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9904" y="1005840"/>
            <a:ext cx="2697480" cy="438912"/>
          </a:xfrm>
          <a:prstGeom prst="rect">
            <a:avLst/>
          </a:prstGeom>
          <a:solidFill>
            <a:srgbClr val="E05C45"/>
          </a:solidFill>
          <a:ln w="12700">
            <a:solidFill>
              <a:srgbClr val="E05C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9904" y="104241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Platform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81344" y="1508760"/>
            <a:ext cx="2514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distinct tiers require tailored marketing strategies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Economy: value-driven messaging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Standard: reliability &amp; consistency focus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Premium: luxury and exclusive experience framing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5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931920" cy="960120"/>
          </a:xfrm>
          <a:prstGeom prst="rect">
            <a:avLst/>
          </a:prstGeom>
          <a:solidFill>
            <a:srgbClr val="EAF2F8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73152" cy="960120"/>
          </a:xfrm>
          <a:prstGeom prst="rect">
            <a:avLst/>
          </a:prstGeom>
          <a:solidFill>
            <a:srgbClr val="E05C45"/>
          </a:solidFill>
          <a:ln w="12700">
            <a:solidFill>
              <a:srgbClr val="E05C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6304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Snapshot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1783080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lacks temporal data — no seasonal price volatility or intra-week demand fluctuations captured.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3931920" cy="960120"/>
          </a:xfrm>
          <a:prstGeom prst="rect">
            <a:avLst/>
          </a:prstGeom>
          <a:solidFill>
            <a:srgbClr val="EAF2F8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468880"/>
            <a:ext cx="73152" cy="960120"/>
          </a:xfrm>
          <a:prstGeom prst="rect">
            <a:avLst/>
          </a:prstGeom>
          <a:solidFill>
            <a:srgbClr val="E05C45"/>
          </a:solidFill>
          <a:ln w="12700">
            <a:solidFill>
              <a:srgbClr val="E05C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51460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Depth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2834640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proximity features to tube stations, landmarks or employment hubs that drive micro-level pricing.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520440"/>
            <a:ext cx="3931920" cy="960120"/>
          </a:xfrm>
          <a:prstGeom prst="rect">
            <a:avLst/>
          </a:prstGeom>
          <a:solidFill>
            <a:srgbClr val="EAF2F8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520440"/>
            <a:ext cx="73152" cy="960120"/>
          </a:xfrm>
          <a:prstGeom prst="rect">
            <a:avLst/>
          </a:prstGeom>
          <a:solidFill>
            <a:srgbClr val="E05C45"/>
          </a:solidFill>
          <a:ln w="12700">
            <a:solidFill>
              <a:srgbClr val="E05C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56616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Unused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3886200"/>
            <a:ext cx="3703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description text not leveraged — NLP could extract sentiment and quality signals.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1005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1417320"/>
            <a:ext cx="3931920" cy="804672"/>
          </a:xfrm>
          <a:prstGeom prst="rect">
            <a:avLst/>
          </a:prstGeom>
          <a:solidFill>
            <a:srgbClr val="EAF2F8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1417320"/>
            <a:ext cx="73152" cy="80467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0912" y="145389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System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10912" y="176479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predictive models into a dynamic pricing recommendation engine for live market monitoring.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2313432"/>
            <a:ext cx="3931920" cy="804672"/>
          </a:xfrm>
          <a:prstGeom prst="rect">
            <a:avLst/>
          </a:prstGeom>
          <a:solidFill>
            <a:srgbClr val="EAF2F8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2313432"/>
            <a:ext cx="73152" cy="80467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10912" y="235000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Analysis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10912" y="2660904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availability and price changes month-over-month to capture seasonal patterns.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3209544"/>
            <a:ext cx="3931920" cy="804672"/>
          </a:xfrm>
          <a:prstGeom prst="rect">
            <a:avLst/>
          </a:prstGeom>
          <a:solidFill>
            <a:srgbClr val="EAF2F8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3209544"/>
            <a:ext cx="73152" cy="80467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10912" y="32461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Features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10912" y="3557016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distance to transport hubs and tourist attractions as spatial pricing features.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4105656"/>
            <a:ext cx="3931920" cy="804672"/>
          </a:xfrm>
          <a:prstGeom prst="rect">
            <a:avLst/>
          </a:prstGeom>
          <a:solidFill>
            <a:srgbClr val="EAF2F8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4105656"/>
            <a:ext cx="73152" cy="804672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10912" y="41422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on Descriptions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10912" y="4453128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sentiment analysis to listing descriptions to uncover quality signals beyond review scores.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7C8C"/>
          </a:solidFill>
          <a:ln w="12700">
            <a:solidFill>
              <a:srgbClr val="0D7C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2743200"/>
            <a:ext cx="804672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48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London Airbnb Analytics Report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P.G.P.R. Gunawardhena  |  AS2022901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49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333 1.5 — Data Mining &amp; Data Warehousing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49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Sri Jayewardanepura  |  19 April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7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28,480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49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51760" y="379476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7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5176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49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440" y="379476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7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85.6%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6344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49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75120" y="379476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7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67512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49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1176</Words>
  <Application>Microsoft Office PowerPoint</Application>
  <PresentationFormat>On-screen Show (16:9)</PresentationFormat>
  <Paragraphs>266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London Airbnb Analytics Report</dc:title>
  <dc:subject>PptxGenJS Presentation</dc:subject>
  <dc:creator>P.G.P.R.Gunawardhena - AS2022901</dc:creator>
  <cp:lastModifiedBy>Pahasara Ridmaka</cp:lastModifiedBy>
  <cp:revision>2</cp:revision>
  <dcterms:created xsi:type="dcterms:W3CDTF">2026-04-18T19:04:06Z</dcterms:created>
  <dcterms:modified xsi:type="dcterms:W3CDTF">2026-04-19T10:14:56Z</dcterms:modified>
</cp:coreProperties>
</file>